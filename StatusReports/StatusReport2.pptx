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14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56DC70-3BF1-8B3F-6C97-570ECF673C2D}" v="906" dt="2026-01-25T01:22:01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3AD0F-18B9-4C76-BB41-3A341EC3F1D5}" type="datetimeFigureOut"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DB6EC-582A-41B8-A8D0-AB559CD457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6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4275" y="696913"/>
            <a:ext cx="4646613" cy="34845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9800" y="4416425"/>
            <a:ext cx="5130800" cy="41830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13" tIns="45706" rIns="91413" bIns="4570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00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82" name="Rectangle 426"/>
          <p:cNvSpPr>
            <a:spLocks noChangeArrowheads="1"/>
          </p:cNvSpPr>
          <p:nvPr/>
        </p:nvSpPr>
        <p:spPr bwMode="auto">
          <a:xfrm>
            <a:off x="434974" y="3657600"/>
            <a:ext cx="4746625" cy="3124200"/>
          </a:xfrm>
          <a:prstGeom prst="rect">
            <a:avLst/>
          </a:prstGeom>
          <a:solidFill>
            <a:srgbClr val="CA1B4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093" name="Text Box 37"/>
          <p:cNvSpPr txBox="1">
            <a:spLocks noChangeArrowheads="1"/>
          </p:cNvSpPr>
          <p:nvPr/>
        </p:nvSpPr>
        <p:spPr bwMode="auto">
          <a:xfrm>
            <a:off x="381000" y="1962150"/>
            <a:ext cx="1219200" cy="1638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800" i="0">
                <a:latin typeface="Times New Roman"/>
                <a:cs typeface="Times New Roman"/>
              </a:rPr>
              <a:t>Professor: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Nathan White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nathan.white@cwu.edu</a:t>
            </a:r>
          </a:p>
          <a:p>
            <a:pPr>
              <a:lnSpc>
                <a:spcPct val="115000"/>
              </a:lnSpc>
            </a:pPr>
            <a:endParaRPr lang="en-US" sz="800" i="0" u="sng"/>
          </a:p>
          <a:p>
            <a:pPr>
              <a:lnSpc>
                <a:spcPct val="115000"/>
              </a:lnSpc>
            </a:pPr>
            <a:r>
              <a:rPr lang="en-US" sz="800" i="0">
                <a:latin typeface="Times New Roman"/>
                <a:cs typeface="Times New Roman"/>
              </a:rPr>
              <a:t>Students: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Max Shuford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Esther Law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Harrison Ingram-Bate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Alan Ruelas-Cordova</a:t>
            </a:r>
            <a:endParaRPr lang="en-US" sz="800" b="0" i="0"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Parker Miller</a:t>
            </a:r>
          </a:p>
          <a:p>
            <a:pPr>
              <a:lnSpc>
                <a:spcPct val="114999"/>
              </a:lnSpc>
            </a:pPr>
            <a:r>
              <a:rPr lang="en-US" sz="800" b="0" i="0">
                <a:latin typeface="Times New Roman"/>
                <a:cs typeface="Times New Roman"/>
              </a:rPr>
              <a:t>Cruz Gonzalez</a:t>
            </a:r>
            <a:endParaRPr lang="en-US" sz="800" b="0" i="0">
              <a:cs typeface="Times New Roman"/>
            </a:endParaRPr>
          </a:p>
        </p:txBody>
      </p:sp>
      <p:sp>
        <p:nvSpPr>
          <p:cNvPr id="173090" name="Rectangle 34"/>
          <p:cNvSpPr>
            <a:spLocks noChangeArrowheads="1"/>
          </p:cNvSpPr>
          <p:nvPr/>
        </p:nvSpPr>
        <p:spPr bwMode="auto">
          <a:xfrm>
            <a:off x="466725" y="748554"/>
            <a:ext cx="6600031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481" name="Rectangle 425"/>
          <p:cNvSpPr>
            <a:spLocks noChangeArrowheads="1"/>
          </p:cNvSpPr>
          <p:nvPr/>
        </p:nvSpPr>
        <p:spPr bwMode="auto">
          <a:xfrm>
            <a:off x="1689893" y="1451187"/>
            <a:ext cx="3440697" cy="2189921"/>
          </a:xfrm>
          <a:prstGeom prst="rect">
            <a:avLst/>
          </a:prstGeom>
          <a:solidFill>
            <a:srgbClr val="CA1B42"/>
          </a:solidFill>
          <a:ln w="12700">
            <a:solidFill>
              <a:srgbClr val="511EAE"/>
            </a:solidFill>
            <a:miter lim="800000"/>
            <a:headEnd/>
            <a:tailEnd/>
          </a:ln>
          <a:effectLst/>
        </p:spPr>
        <p:txBody>
          <a:bodyPr wrap="none" lIns="91440" tIns="45720" rIns="91440" bIns="45720" anchor="ctr"/>
          <a:lstStyle/>
          <a:p>
            <a:endParaRPr lang="en-US"/>
          </a:p>
        </p:txBody>
      </p:sp>
      <p:sp>
        <p:nvSpPr>
          <p:cNvPr id="173478" name="Rectangle 422"/>
          <p:cNvSpPr>
            <a:spLocks noChangeArrowheads="1"/>
          </p:cNvSpPr>
          <p:nvPr/>
        </p:nvSpPr>
        <p:spPr bwMode="auto">
          <a:xfrm>
            <a:off x="5257800" y="3657600"/>
            <a:ext cx="3576638" cy="3124200"/>
          </a:xfrm>
          <a:prstGeom prst="rect">
            <a:avLst/>
          </a:prstGeom>
          <a:solidFill>
            <a:srgbClr val="CA1B4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071" name="Rectangle 15"/>
          <p:cNvSpPr>
            <a:spLocks noChangeArrowheads="1"/>
          </p:cNvSpPr>
          <p:nvPr/>
        </p:nvSpPr>
        <p:spPr bwMode="auto">
          <a:xfrm>
            <a:off x="5257800" y="1828800"/>
            <a:ext cx="3576638" cy="1676400"/>
          </a:xfrm>
          <a:prstGeom prst="rect">
            <a:avLst/>
          </a:prstGeom>
          <a:solidFill>
            <a:srgbClr val="CA1B4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066" name="Text Box 10"/>
          <p:cNvSpPr txBox="1">
            <a:spLocks noChangeArrowheads="1"/>
          </p:cNvSpPr>
          <p:nvPr/>
        </p:nvSpPr>
        <p:spPr bwMode="auto">
          <a:xfrm>
            <a:off x="1912939" y="-19221"/>
            <a:ext cx="530701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800" i="0" dirty="0" err="1">
                <a:latin typeface="Times New Roman"/>
                <a:cs typeface="Times New Roman"/>
              </a:rPr>
              <a:t>Moogle</a:t>
            </a:r>
            <a:r>
              <a:rPr lang="en-US" sz="1800" i="0" dirty="0">
                <a:latin typeface="Times New Roman"/>
                <a:cs typeface="Times New Roman"/>
              </a:rPr>
              <a:t> Gaps</a:t>
            </a:r>
            <a:endParaRPr lang="en-US" sz="1800" i="0" dirty="0">
              <a:cs typeface="Times New Roman"/>
            </a:endParaRPr>
          </a:p>
          <a:p>
            <a:pPr algn="ctr"/>
            <a:r>
              <a:rPr lang="en-US" sz="1200" i="0" dirty="0">
                <a:latin typeface="Times New Roman"/>
                <a:cs typeface="Times New Roman"/>
              </a:rPr>
              <a:t>Date: </a:t>
            </a:r>
            <a:r>
              <a:rPr lang="en-US" sz="1200" dirty="0">
                <a:latin typeface="Times New Roman"/>
                <a:cs typeface="Times New Roman"/>
              </a:rPr>
              <a:t>01/24/2026</a:t>
            </a:r>
            <a:endParaRPr lang="en-US" sz="1200" i="0" dirty="0">
              <a:latin typeface="Times New Roman"/>
              <a:cs typeface="Times New Roman"/>
            </a:endParaRPr>
          </a:p>
        </p:txBody>
      </p:sp>
      <p:sp>
        <p:nvSpPr>
          <p:cNvPr id="173072" name="Rectangle 16"/>
          <p:cNvSpPr>
            <a:spLocks noChangeArrowheads="1"/>
          </p:cNvSpPr>
          <p:nvPr/>
        </p:nvSpPr>
        <p:spPr bwMode="auto">
          <a:xfrm>
            <a:off x="5257800" y="1828800"/>
            <a:ext cx="2366963" cy="182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/>
              <a:t>Key Risks and Issues:</a:t>
            </a:r>
          </a:p>
        </p:txBody>
      </p:sp>
      <p:sp>
        <p:nvSpPr>
          <p:cNvPr id="173089" name="Rectangle 33"/>
          <p:cNvSpPr>
            <a:spLocks noChangeArrowheads="1"/>
          </p:cNvSpPr>
          <p:nvPr/>
        </p:nvSpPr>
        <p:spPr bwMode="auto">
          <a:xfrm>
            <a:off x="434975" y="1828800"/>
            <a:ext cx="874713" cy="152400"/>
          </a:xfrm>
          <a:prstGeom prst="rect">
            <a:avLst/>
          </a:prstGeom>
          <a:solidFill>
            <a:srgbClr val="CA1B4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29" tIns="45714" rIns="91429" bIns="45714" anchor="ctr"/>
          <a:lstStyle/>
          <a:p>
            <a:pPr algn="ctr"/>
            <a:r>
              <a:rPr lang="en-US" sz="900" i="0">
                <a:solidFill>
                  <a:schemeClr val="bg1"/>
                </a:solidFill>
              </a:rPr>
              <a:t>Key Contacts</a:t>
            </a:r>
            <a:endParaRPr lang="en-US" i="0">
              <a:solidFill>
                <a:schemeClr val="bg1"/>
              </a:solidFill>
            </a:endParaRPr>
          </a:p>
        </p:txBody>
      </p:sp>
      <p:sp>
        <p:nvSpPr>
          <p:cNvPr id="173091" name="Rectangle 35"/>
          <p:cNvSpPr>
            <a:spLocks noChangeArrowheads="1"/>
          </p:cNvSpPr>
          <p:nvPr/>
        </p:nvSpPr>
        <p:spPr bwMode="auto">
          <a:xfrm>
            <a:off x="452438" y="490410"/>
            <a:ext cx="5876925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114300" indent="-114300"/>
            <a:r>
              <a:rPr lang="en-US" sz="1200">
                <a:latin typeface="Times New Roman"/>
                <a:cs typeface="Times New Roman"/>
              </a:rPr>
              <a:t>Project Objectives:</a:t>
            </a:r>
          </a:p>
          <a:p>
            <a:pPr marL="114300" indent="-114300"/>
            <a:r>
              <a:rPr lang="en-US" sz="500" b="0" i="0">
                <a:latin typeface="Times New Roman"/>
                <a:cs typeface="Times New Roman"/>
              </a:rPr>
              <a:t>	</a:t>
            </a:r>
            <a:endParaRPr lang="en-US" b="0" i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114300" indent="-114300">
              <a:spcBef>
                <a:spcPts val="0"/>
              </a:spcBef>
              <a:buFont typeface="Wingdings" pitchFamily="2" charset="2"/>
              <a:buChar char="§"/>
            </a:pPr>
            <a:r>
              <a:rPr lang="en-US" sz="800" b="0" i="0">
                <a:solidFill>
                  <a:srgbClr val="000000"/>
                </a:solidFill>
                <a:latin typeface="Times New Roman"/>
                <a:cs typeface="Times New Roman"/>
              </a:rPr>
              <a:t>Develop an application that displays a map centered in the user's current location. </a:t>
            </a:r>
            <a:endParaRPr lang="en-US" sz="800" b="0" i="0">
              <a:solidFill>
                <a:srgbClr val="000000"/>
              </a:solidFill>
              <a:cs typeface="Times New Roman"/>
            </a:endParaRPr>
          </a:p>
          <a:p>
            <a:pPr marL="114300" indent="-1143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800" b="0" i="0">
                <a:solidFill>
                  <a:srgbClr val="000000"/>
                </a:solidFill>
                <a:latin typeface="Times New Roman"/>
                <a:cs typeface="Times New Roman"/>
              </a:rPr>
              <a:t>Enable users to enter two U.S. cities and receive driving directions. </a:t>
            </a:r>
            <a:endParaRPr lang="en-US" sz="800" b="0" i="0">
              <a:solidFill>
                <a:srgbClr val="000000"/>
              </a:solidFill>
              <a:cs typeface="Times New Roman"/>
            </a:endParaRPr>
          </a:p>
          <a:p>
            <a:pPr marL="114300" indent="-1143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800" b="0" i="0">
                <a:solidFill>
                  <a:srgbClr val="000000"/>
                </a:solidFill>
                <a:latin typeface="Times New Roman"/>
                <a:cs typeface="Times New Roman"/>
              </a:rPr>
              <a:t>Provide secure user authentication, allowing users to create accounts and log in safely.  </a:t>
            </a:r>
            <a:endParaRPr lang="en-US" sz="800" b="0" i="0">
              <a:solidFill>
                <a:srgbClr val="000000"/>
              </a:solidFill>
              <a:cs typeface="Times New Roman"/>
            </a:endParaRPr>
          </a:p>
          <a:p>
            <a:pPr marL="114300" indent="-1143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800" b="0" i="0">
                <a:solidFill>
                  <a:srgbClr val="000000"/>
                </a:solidFill>
                <a:latin typeface="Times New Roman"/>
                <a:cs typeface="Times New Roman"/>
              </a:rPr>
              <a:t>Allow authenticated users to save up to five favorite routes. </a:t>
            </a:r>
            <a:endParaRPr lang="en-US" sz="800" b="0" i="0">
              <a:solidFill>
                <a:srgbClr val="000000"/>
              </a:solidFill>
              <a:cs typeface="Times New Roman"/>
            </a:endParaRPr>
          </a:p>
        </p:txBody>
      </p:sp>
      <p:sp>
        <p:nvSpPr>
          <p:cNvPr id="173122" name="Line 66"/>
          <p:cNvSpPr>
            <a:spLocks noChangeShapeType="1"/>
          </p:cNvSpPr>
          <p:nvPr/>
        </p:nvSpPr>
        <p:spPr bwMode="auto">
          <a:xfrm>
            <a:off x="1295400" y="2057400"/>
            <a:ext cx="1588" cy="243363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3147" name="Line 91"/>
          <p:cNvSpPr>
            <a:spLocks noChangeShapeType="1"/>
          </p:cNvSpPr>
          <p:nvPr/>
        </p:nvSpPr>
        <p:spPr bwMode="auto">
          <a:xfrm>
            <a:off x="475796" y="535661"/>
            <a:ext cx="8382000" cy="1588"/>
          </a:xfrm>
          <a:prstGeom prst="line">
            <a:avLst/>
          </a:prstGeom>
          <a:noFill/>
          <a:ln w="76200">
            <a:solidFill>
              <a:srgbClr val="CA1B4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3184" name="Rectangle 128"/>
          <p:cNvSpPr>
            <a:spLocks noChangeArrowheads="1"/>
          </p:cNvSpPr>
          <p:nvPr/>
        </p:nvSpPr>
        <p:spPr bwMode="auto">
          <a:xfrm>
            <a:off x="7185819" y="1095375"/>
            <a:ext cx="430213" cy="152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0" tIns="45720" rIns="91440" bIns="45720" anchor="ctr"/>
          <a:lstStyle/>
          <a:p>
            <a:pPr algn="ctr"/>
            <a:r>
              <a:rPr lang="en-US" b="0" i="0">
                <a:latin typeface="Arial"/>
                <a:cs typeface="Arial"/>
              </a:rPr>
              <a:t>M</a:t>
            </a:r>
          </a:p>
        </p:txBody>
      </p:sp>
      <p:sp>
        <p:nvSpPr>
          <p:cNvPr id="173186" name="Rectangle 130"/>
          <p:cNvSpPr>
            <a:spLocks noChangeArrowheads="1"/>
          </p:cNvSpPr>
          <p:nvPr/>
        </p:nvSpPr>
        <p:spPr bwMode="auto">
          <a:xfrm>
            <a:off x="7195345" y="1533525"/>
            <a:ext cx="430212" cy="1524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0" tIns="45720" rIns="91440" bIns="45720" anchor="ctr"/>
          <a:lstStyle/>
          <a:p>
            <a:pPr algn="ctr"/>
            <a:endParaRPr lang="en-US" b="0" i="0">
              <a:latin typeface="Arial" pitchFamily="34" charset="0"/>
              <a:cs typeface="Arial"/>
            </a:endParaRPr>
          </a:p>
        </p:txBody>
      </p:sp>
      <p:sp>
        <p:nvSpPr>
          <p:cNvPr id="173187" name="Rectangle 131"/>
          <p:cNvSpPr>
            <a:spLocks noChangeArrowheads="1"/>
          </p:cNvSpPr>
          <p:nvPr/>
        </p:nvSpPr>
        <p:spPr bwMode="auto">
          <a:xfrm>
            <a:off x="7262019" y="942975"/>
            <a:ext cx="22860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800" b="0" i="0">
                <a:solidFill>
                  <a:srgbClr val="000000"/>
                </a:solidFill>
              </a:rPr>
              <a:t>Risk</a:t>
            </a:r>
          </a:p>
        </p:txBody>
      </p:sp>
      <p:sp>
        <p:nvSpPr>
          <p:cNvPr id="173190" name="Rectangle 134"/>
          <p:cNvSpPr>
            <a:spLocks noChangeArrowheads="1"/>
          </p:cNvSpPr>
          <p:nvPr/>
        </p:nvSpPr>
        <p:spPr bwMode="auto">
          <a:xfrm>
            <a:off x="7244557" y="1381125"/>
            <a:ext cx="37147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800" b="0" i="0">
                <a:solidFill>
                  <a:srgbClr val="000000"/>
                </a:solidFill>
              </a:rPr>
              <a:t>Schedule</a:t>
            </a:r>
            <a:endParaRPr lang="en-US" sz="1200" b="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173193" name="Rectangle 137"/>
          <p:cNvSpPr>
            <a:spLocks noChangeArrowheads="1"/>
          </p:cNvSpPr>
          <p:nvPr/>
        </p:nvSpPr>
        <p:spPr bwMode="auto">
          <a:xfrm>
            <a:off x="8202613" y="1181100"/>
            <a:ext cx="646112" cy="3302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0" tIns="45720" rIns="91440" bIns="45720" anchor="ctr"/>
          <a:lstStyle/>
          <a:p>
            <a:pPr algn="ctr"/>
            <a:endParaRPr lang="en-US" b="0" i="0">
              <a:latin typeface="Arial" pitchFamily="34" charset="0"/>
              <a:cs typeface="Arial"/>
            </a:endParaRPr>
          </a:p>
        </p:txBody>
      </p:sp>
      <p:sp>
        <p:nvSpPr>
          <p:cNvPr id="173194" name="Rectangle 138"/>
          <p:cNvSpPr>
            <a:spLocks noChangeArrowheads="1"/>
          </p:cNvSpPr>
          <p:nvPr/>
        </p:nvSpPr>
        <p:spPr bwMode="auto">
          <a:xfrm>
            <a:off x="7705725" y="1181100"/>
            <a:ext cx="4333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100" i="0">
                <a:solidFill>
                  <a:srgbClr val="000000"/>
                </a:solidFill>
              </a:rPr>
              <a:t>Project</a:t>
            </a:r>
          </a:p>
          <a:p>
            <a:pPr algn="ctr"/>
            <a:r>
              <a:rPr lang="en-US" sz="1100" i="0">
                <a:solidFill>
                  <a:srgbClr val="000000"/>
                </a:solidFill>
              </a:rPr>
              <a:t>Status</a:t>
            </a:r>
            <a:endParaRPr lang="en-US" sz="1100" b="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173475" name="Rectangle 419"/>
          <p:cNvSpPr>
            <a:spLocks noChangeArrowheads="1"/>
          </p:cNvSpPr>
          <p:nvPr/>
        </p:nvSpPr>
        <p:spPr bwMode="auto">
          <a:xfrm>
            <a:off x="1690687" y="1463539"/>
            <a:ext cx="2366963" cy="182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/>
              <a:t>Key Milestones:</a:t>
            </a:r>
          </a:p>
        </p:txBody>
      </p:sp>
      <p:sp>
        <p:nvSpPr>
          <p:cNvPr id="173477" name="Rectangle 421"/>
          <p:cNvSpPr>
            <a:spLocks noChangeArrowheads="1"/>
          </p:cNvSpPr>
          <p:nvPr/>
        </p:nvSpPr>
        <p:spPr bwMode="auto">
          <a:xfrm>
            <a:off x="5331619" y="4089400"/>
            <a:ext cx="3429000" cy="2271071"/>
          </a:xfrm>
          <a:prstGeom prst="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t">
            <a:spAutoFit/>
          </a:bodyPr>
          <a:lstStyle/>
          <a:p>
            <a:endParaRPr lang="en-US" sz="800" b="0" i="0"/>
          </a:p>
          <a:p>
            <a:pPr marL="114300" indent="-114300">
              <a:buFontTx/>
              <a:buChar char="•"/>
            </a:pPr>
            <a:r>
              <a:rPr lang="en-US" sz="800" b="0" i="0" dirty="0">
                <a:latin typeface="Times New Roman"/>
                <a:cs typeface="Times New Roman"/>
              </a:rPr>
              <a:t>Complete the initial Software Requirements Specification (SRS).</a:t>
            </a:r>
            <a:endParaRPr lang="en-US" sz="800" b="0" i="0" dirty="0">
              <a:cs typeface="Times New Roman" pitchFamily="18" charset="0"/>
            </a:endParaRPr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Char char="•"/>
            </a:pPr>
            <a:r>
              <a:rPr lang="en-US" sz="800" b="0" i="0" dirty="0">
                <a:latin typeface="Times New Roman"/>
                <a:cs typeface="Times New Roman"/>
              </a:rPr>
              <a:t>Status Report </a:t>
            </a:r>
            <a:r>
              <a:rPr lang="en-US" sz="800" dirty="0">
                <a:latin typeface="Times New Roman"/>
                <a:cs typeface="Times New Roman"/>
              </a:rPr>
              <a:t>3</a:t>
            </a:r>
            <a:endParaRPr lang="en-US" sz="800" b="0" i="0" dirty="0">
              <a:latin typeface="Times New Roman"/>
              <a:cs typeface="Times New Roman"/>
            </a:endParaRPr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lnSpc>
                <a:spcPct val="65000"/>
              </a:lnSpc>
            </a:pPr>
            <a:endParaRPr lang="en-US" sz="800" b="0" i="0">
              <a:solidFill>
                <a:srgbClr val="000000"/>
              </a:solidFill>
            </a:endParaRPr>
          </a:p>
        </p:txBody>
      </p:sp>
      <p:sp>
        <p:nvSpPr>
          <p:cNvPr id="173474" name="Rectangle 418"/>
          <p:cNvSpPr>
            <a:spLocks noChangeArrowheads="1"/>
          </p:cNvSpPr>
          <p:nvPr/>
        </p:nvSpPr>
        <p:spPr bwMode="auto">
          <a:xfrm>
            <a:off x="5312227" y="3739243"/>
            <a:ext cx="3403146" cy="2188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1200" dirty="0"/>
              <a:t>Major Tasks Planned for Next Two Weeks: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34238" y="-57547"/>
            <a:ext cx="16002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800">
                <a:ln w="1905"/>
                <a:solidFill>
                  <a:srgbClr val="CA1B42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CS 480</a:t>
            </a:r>
          </a:p>
          <a:p>
            <a:pPr algn="ctr"/>
            <a:r>
              <a:rPr lang="en-US" sz="1600">
                <a:ln w="1905"/>
                <a:solidFill>
                  <a:srgbClr val="CA1B42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/>
                <a:cs typeface="Times New Roman"/>
              </a:rPr>
              <a:t>Winter 2026</a:t>
            </a:r>
            <a:endParaRPr lang="en-US" sz="1600">
              <a:ln w="1905"/>
              <a:solidFill>
                <a:srgbClr val="CA1B42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cs typeface="Times New Roman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263355"/>
              </p:ext>
            </p:extLst>
          </p:nvPr>
        </p:nvGraphicFramePr>
        <p:xfrm>
          <a:off x="504264" y="3854823"/>
          <a:ext cx="4524703" cy="279329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16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63">
                  <a:extLst>
                    <a:ext uri="{9D8B030D-6E8A-4147-A177-3AD203B41FA5}">
                      <a16:colId xmlns:a16="http://schemas.microsoft.com/office/drawing/2014/main" val="2068015191"/>
                    </a:ext>
                  </a:extLst>
                </a:gridCol>
                <a:gridCol w="285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76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Student(s)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Accomplishment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358"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1/21/26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Esther, Harrison, Alan, Parker, and Cruz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Brainstorming and listing Possible Use-Cases, grouping small use-cases into larger more general use cases.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358"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1/22/26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Finalized Updated Schedule for Updated Project Plan.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55"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1/22/26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Max and Harrison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Reviewed and submitted Updated Project Plan.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35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355"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305"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10D86B-3234-E058-B248-DBEEA638C8FE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156618769"/>
              </p:ext>
            </p:extLst>
          </p:nvPr>
        </p:nvGraphicFramePr>
        <p:xfrm>
          <a:off x="1815890" y="1667740"/>
          <a:ext cx="3200400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324">
                  <a:extLst>
                    <a:ext uri="{9D8B030D-6E8A-4147-A177-3AD203B41FA5}">
                      <a16:colId xmlns:a16="http://schemas.microsoft.com/office/drawing/2014/main" val="376091737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64558198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1258842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627686538"/>
                    </a:ext>
                  </a:extLst>
                </a:gridCol>
              </a:tblGrid>
              <a:tr h="183114">
                <a:tc>
                  <a:txBody>
                    <a:bodyPr/>
                    <a:lstStyle/>
                    <a:p>
                      <a:r>
                        <a:rPr lang="en-US" sz="700" b="1" dirty="0">
                          <a:latin typeface="Times New Roman"/>
                          <a:cs typeface="Times New Roman"/>
                        </a:rPr>
                        <a:t>Milestone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latin typeface="Times New Roman"/>
                          <a:cs typeface="Times New Roman"/>
                        </a:rPr>
                        <a:t>%Complete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latin typeface="Times New Roman"/>
                          <a:cs typeface="Times New Roman"/>
                        </a:rPr>
                        <a:t>Planned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latin typeface="Times New Roman"/>
                          <a:cs typeface="Times New Roman"/>
                        </a:rPr>
                        <a:t>Completed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958111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Project Plan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100%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1/16/2026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1/15/2026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499934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Updated Project Plan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100%</a:t>
                      </a:r>
                      <a:endParaRPr 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1/23/2026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1/22/2026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44104"/>
                  </a:ext>
                </a:extLst>
              </a:tr>
              <a:tr h="183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SRS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10%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2/6/2026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-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88196"/>
                  </a:ext>
                </a:extLst>
              </a:tr>
              <a:tr h="18311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Updated SRS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2/13/2026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-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44012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Design Document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0%</a:t>
                      </a:r>
                      <a:endParaRPr 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2/27/2026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086873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Test Plan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0%</a:t>
                      </a:r>
                      <a:endParaRPr 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3/6/2026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932541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Working System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3/13/2026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613045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Test Report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3/13/2026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221683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Presentation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3/16/2026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1096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2FD202-76E9-F9B2-BE9B-8FF6AA3F03E6}"/>
              </a:ext>
            </a:extLst>
          </p:cNvPr>
          <p:cNvGraphicFramePr>
            <a:graphicFrameLocks noGrp="1"/>
          </p:cNvGraphicFramePr>
          <p:nvPr/>
        </p:nvGraphicFramePr>
        <p:xfrm>
          <a:off x="5322951" y="2083165"/>
          <a:ext cx="3427930" cy="13574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13965">
                  <a:extLst>
                    <a:ext uri="{9D8B030D-6E8A-4147-A177-3AD203B41FA5}">
                      <a16:colId xmlns:a16="http://schemas.microsoft.com/office/drawing/2014/main" val="4131621460"/>
                    </a:ext>
                  </a:extLst>
                </a:gridCol>
                <a:gridCol w="1713965">
                  <a:extLst>
                    <a:ext uri="{9D8B030D-6E8A-4147-A177-3AD203B41FA5}">
                      <a16:colId xmlns:a16="http://schemas.microsoft.com/office/drawing/2014/main" val="162690463"/>
                    </a:ext>
                  </a:extLst>
                </a:gridCol>
              </a:tblGrid>
              <a:tr h="678702">
                <a:tc>
                  <a:txBody>
                    <a:bodyPr/>
                    <a:lstStyle/>
                    <a:p>
                      <a:pPr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Risk:  </a:t>
                      </a:r>
                      <a:endParaRPr lang="en-US" sz="800" b="1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398" marR="63398" marT="31699" marB="31699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Risk Summary:</a:t>
                      </a:r>
                      <a:endParaRPr lang="en-US" sz="800" b="1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398" marR="63398" marT="31699" marB="31699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00608"/>
                  </a:ext>
                </a:extLst>
              </a:tr>
              <a:tr h="678702">
                <a:tc>
                  <a:txBody>
                    <a:bodyPr/>
                    <a:lstStyle/>
                    <a:p>
                      <a:pPr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800" b="1" u="none">
                          <a:effectLst/>
                          <a:latin typeface="Times New Roman"/>
                          <a:cs typeface="Times New Roman"/>
                        </a:rPr>
                        <a:t>Issue: </a:t>
                      </a:r>
                      <a:br>
                        <a:rPr lang="en-US" sz="800" b="0" u="none">
                          <a:effectLst/>
                          <a:latin typeface="Times New Roman"/>
                          <a:cs typeface="Times New Roman"/>
                        </a:rPr>
                      </a:br>
                      <a:br>
                        <a:rPr lang="en-US" sz="800" b="0" u="none">
                          <a:effectLst/>
                          <a:latin typeface="Times New Roman"/>
                          <a:cs typeface="Times New Roman"/>
                        </a:rPr>
                      </a:br>
                      <a:r>
                        <a:rPr lang="en-US" sz="800" b="0" u="none">
                          <a:effectLst/>
                          <a:latin typeface="Times New Roman"/>
                          <a:cs typeface="Times New Roman"/>
                        </a:rPr>
                        <a:t>Meeting in person at a designated time.</a:t>
                      </a:r>
                    </a:p>
                  </a:txBody>
                  <a:tcPr marL="63398" marR="63398" marT="31699" marB="31699">
                    <a:lnL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Times New Roman"/>
                          <a:cs typeface="Times New Roman"/>
                        </a:rPr>
                        <a:t>Issue Summary &amp; Resolution:</a:t>
                      </a:r>
                      <a:br>
                        <a:rPr lang="en-US" sz="800" b="0">
                          <a:effectLst/>
                          <a:latin typeface="Times New Roman"/>
                          <a:cs typeface="Times New Roman"/>
                        </a:rPr>
                      </a:br>
                      <a:br>
                        <a:rPr lang="en-US" sz="800" b="0">
                          <a:effectLst/>
                          <a:latin typeface="Times New Roman"/>
                          <a:cs typeface="Times New Roman"/>
                        </a:rPr>
                      </a:br>
                      <a:r>
                        <a:rPr lang="en-US" sz="800" b="0">
                          <a:effectLst/>
                          <a:latin typeface="Times New Roman"/>
                          <a:cs typeface="Times New Roman"/>
                        </a:rPr>
                        <a:t>Virtual meetings, and distance communication.</a:t>
                      </a:r>
                    </a:p>
                  </a:txBody>
                  <a:tcPr marL="63398" marR="63398" marT="31699" marB="31699">
                    <a:lnL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7357"/>
                  </a:ext>
                </a:extLst>
              </a:tr>
            </a:tbl>
          </a:graphicData>
        </a:graphic>
      </p:graphicFrame>
      <p:sp>
        <p:nvSpPr>
          <p:cNvPr id="173476" name="Rectangle 420"/>
          <p:cNvSpPr>
            <a:spLocks noChangeArrowheads="1"/>
          </p:cNvSpPr>
          <p:nvPr/>
        </p:nvSpPr>
        <p:spPr bwMode="auto">
          <a:xfrm>
            <a:off x="441323" y="3635098"/>
            <a:ext cx="1230642" cy="2032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800">
                <a:latin typeface="Times New Roman"/>
                <a:cs typeface="Times New Roman"/>
              </a:rPr>
              <a:t>Key Accomplishments:</a:t>
            </a:r>
          </a:p>
        </p:txBody>
      </p:sp>
    </p:spTree>
    <p:extLst>
      <p:ext uri="{BB962C8B-B14F-4D97-AF65-F5344CB8AC3E}">
        <p14:creationId xmlns:p14="http://schemas.microsoft.com/office/powerpoint/2010/main" val="2151708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(4:3)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64</cp:revision>
  <dcterms:created xsi:type="dcterms:W3CDTF">2013-07-15T20:26:40Z</dcterms:created>
  <dcterms:modified xsi:type="dcterms:W3CDTF">2026-01-26T03:14:48Z</dcterms:modified>
</cp:coreProperties>
</file>
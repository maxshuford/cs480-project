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313" r:id="rId2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i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i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i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i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i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000" b="1" i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1000" b="1" i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1000" b="1" i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1000" b="1" i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7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1B42"/>
    <a:srgbClr val="6600CC"/>
    <a:srgbClr val="C0504D"/>
    <a:srgbClr val="FF0000"/>
    <a:srgbClr val="511EAE"/>
    <a:srgbClr val="5F5F5F"/>
    <a:srgbClr val="FFFF66"/>
    <a:srgbClr val="FFFF00"/>
    <a:srgbClr val="0099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3DED49-C356-F08E-196F-51BC57F3FB9B}" v="260" dt="2026-01-16T22:03:46.851"/>
    <p1510:client id="{1F128DAD-5B8B-1BB6-2034-4A6B94D0B0C9}" v="411" dt="2026-01-16T22:34:56.738"/>
    <p1510:client id="{23858BE9-38CF-4251-A3C6-3333609E1F48}" v="86" dt="2026-01-16T21:57:19.959"/>
    <p1510:client id="{2E012AA4-F8DC-B0B4-87A1-9E01D7510577}" v="490" dt="2026-01-16T22:41:51.607"/>
    <p1510:client id="{3C2C2145-D24B-4AC4-BC4E-E36F1490EB2D}" v="379" dt="2026-01-16T22:26:40.825"/>
    <p1510:client id="{4AD1184C-CB29-9FC0-B96D-C9E528DDFAFE}" v="700" dt="2026-01-16T22:38:58.635"/>
    <p1510:client id="{6B065B1B-A4F3-F2D3-B5F5-F2AF20906B14}" v="1666" dt="2026-01-16T22:32:18.627"/>
    <p1510:client id="{A1E672CC-B0B9-B034-352B-3833659ADBBB}" v="233" dt="2026-01-16T22:28:20.857"/>
    <p1510:client id="{A9001F90-60EE-4646-AB92-FEA16021C117}" v="178" dt="2026-01-16T22:25:32.7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728"/>
        <p:guide pos="312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7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49" tIns="46874" rIns="93749" bIns="46874" numCol="1" anchor="t" anchorCtr="0" compatLnSpc="1">
            <a:prstTxWarp prst="textNoShape">
              <a:avLst/>
            </a:prstTxWarp>
          </a:bodyPr>
          <a:lstStyle>
            <a:lvl1pPr defTabSz="938213" eaLnBrk="1" hangingPunct="1">
              <a:defRPr sz="1200" b="0" i="0"/>
            </a:lvl1pPr>
          </a:lstStyle>
          <a:p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49" tIns="46874" rIns="93749" bIns="46874" numCol="1" anchor="t" anchorCtr="0" compatLnSpc="1">
            <a:prstTxWarp prst="textNoShape">
              <a:avLst/>
            </a:prstTxWarp>
          </a:bodyPr>
          <a:lstStyle>
            <a:lvl1pPr algn="r" defTabSz="938213" eaLnBrk="1" hangingPunct="1">
              <a:defRPr sz="1200" b="0" i="0"/>
            </a:lvl1pPr>
          </a:lstStyle>
          <a:p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49" tIns="46874" rIns="93749" bIns="46874" numCol="1" anchor="b" anchorCtr="0" compatLnSpc="1">
            <a:prstTxWarp prst="textNoShape">
              <a:avLst/>
            </a:prstTxWarp>
          </a:bodyPr>
          <a:lstStyle>
            <a:lvl1pPr defTabSz="938213" eaLnBrk="1" hangingPunct="1">
              <a:defRPr sz="1200" b="0" i="0"/>
            </a:lvl1pPr>
          </a:lstStyle>
          <a:p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29675"/>
            <a:ext cx="30384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49" tIns="46874" rIns="93749" bIns="46874" numCol="1" anchor="b" anchorCtr="0" compatLnSpc="1">
            <a:prstTxWarp prst="textNoShape">
              <a:avLst/>
            </a:prstTxWarp>
          </a:bodyPr>
          <a:lstStyle>
            <a:lvl1pPr algn="r" defTabSz="938213" eaLnBrk="1" hangingPunct="1">
              <a:defRPr sz="1200" b="0" i="0"/>
            </a:lvl1pPr>
          </a:lstStyle>
          <a:p>
            <a:fld id="{98AEF836-88FB-4DA7-AE11-E618D972E1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562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0" tIns="46661" rIns="93320" bIns="46661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 b="0" i="0"/>
            </a:lvl1pPr>
          </a:lstStyle>
          <a:p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0" tIns="46661" rIns="93320" bIns="46661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 b="0" i="0"/>
            </a:lvl1pPr>
          </a:lstStyle>
          <a:p>
            <a:endParaRPr 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2213" y="695325"/>
            <a:ext cx="4627562" cy="3470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398963"/>
            <a:ext cx="5137150" cy="416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0" tIns="46661" rIns="93320" bIns="466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9475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0" tIns="46661" rIns="93320" bIns="46661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 b="0" i="0"/>
            </a:lvl1pPr>
          </a:lstStyle>
          <a:p>
            <a:endParaRPr lang="en-US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79475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0" tIns="46661" rIns="93320" bIns="46661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 b="0" i="0"/>
            </a:lvl1pPr>
          </a:lstStyle>
          <a:p>
            <a:fld id="{7EB29312-3C0B-43E2-9AE7-DE9FF2ABCA4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601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4275" y="696913"/>
            <a:ext cx="4646613" cy="34845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9800" y="4416425"/>
            <a:ext cx="5130800" cy="41830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13" tIns="45706" rIns="91413" bIns="45706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00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8AAA4-E156-486E-B394-BDA12F756C27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A4047-1BC6-499C-AD9B-F4E4ADBF0F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35B9E-9F7A-4F9C-BE88-D237EBC58CEE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5941-8344-4F90-B507-C042A29FA2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E2B2-15CA-4C8F-B0F4-86DA5EB8AA2C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D8A2-778D-4810-9614-7E8DAD42C2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41A50-E4ED-465E-A090-34B107F0DE92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181E-57E4-4E85-B61C-F417618EC3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9179-697A-46EA-AF34-F1BC309A3A11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A3FF-25C9-42E2-8A21-338560A53F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D539-4F12-4C40-BCBC-83744D44DE59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573E-8EE5-46EB-8A21-921F4A376F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9DE68-D835-45D3-926F-D496FB3BF562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597D-6B55-4A71-9DCC-31B374C42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D316-BCE1-479F-AAEB-1F5B0F6AB35B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57571-356A-46E7-948F-F58BDA68C9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4918-044C-4ED0-90BF-B2A6A01D27E0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7BE5-0EBC-4AF8-9685-C9F5DD69C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9E6DA-163C-4FD5-AF2D-B725A252EFC2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985CA-CDE3-459C-B2C7-37854159C8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FA300-4903-4C2E-858F-227417CB3E0E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F3DB9-9386-4BF6-8D4B-4DF85EDDE0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6EEB0-C518-47AE-BBB5-8027C7D081BB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F406D-E8E5-4795-9B88-B3987F76D05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82" name="Rectangle 426"/>
          <p:cNvSpPr>
            <a:spLocks noChangeArrowheads="1"/>
          </p:cNvSpPr>
          <p:nvPr/>
        </p:nvSpPr>
        <p:spPr bwMode="auto">
          <a:xfrm>
            <a:off x="434974" y="3657600"/>
            <a:ext cx="4746625" cy="3124200"/>
          </a:xfrm>
          <a:prstGeom prst="rect">
            <a:avLst/>
          </a:prstGeom>
          <a:solidFill>
            <a:srgbClr val="CA1B4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3093" name="Text Box 37"/>
          <p:cNvSpPr txBox="1">
            <a:spLocks noChangeArrowheads="1"/>
          </p:cNvSpPr>
          <p:nvPr/>
        </p:nvSpPr>
        <p:spPr bwMode="auto">
          <a:xfrm>
            <a:off x="381000" y="1962150"/>
            <a:ext cx="1219200" cy="1638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800" i="0">
                <a:latin typeface="Times New Roman"/>
                <a:cs typeface="Times New Roman"/>
              </a:rPr>
              <a:t>Professor:</a:t>
            </a:r>
          </a:p>
          <a:p>
            <a:pPr>
              <a:lnSpc>
                <a:spcPct val="115000"/>
              </a:lnSpc>
            </a:pPr>
            <a:r>
              <a:rPr lang="en-US" sz="800" b="0" i="0">
                <a:latin typeface="Times New Roman"/>
                <a:cs typeface="Times New Roman"/>
              </a:rPr>
              <a:t>Nathan White</a:t>
            </a:r>
          </a:p>
          <a:p>
            <a:pPr>
              <a:lnSpc>
                <a:spcPct val="115000"/>
              </a:lnSpc>
            </a:pPr>
            <a:r>
              <a:rPr lang="en-US" sz="800" b="0" i="0">
                <a:latin typeface="Times New Roman"/>
                <a:cs typeface="Times New Roman"/>
              </a:rPr>
              <a:t>nathan.white@cwu.edu</a:t>
            </a:r>
          </a:p>
          <a:p>
            <a:pPr>
              <a:lnSpc>
                <a:spcPct val="115000"/>
              </a:lnSpc>
            </a:pPr>
            <a:endParaRPr lang="en-US" sz="800" i="0" u="sng"/>
          </a:p>
          <a:p>
            <a:pPr>
              <a:lnSpc>
                <a:spcPct val="115000"/>
              </a:lnSpc>
            </a:pPr>
            <a:r>
              <a:rPr lang="en-US" sz="800" i="0">
                <a:latin typeface="Times New Roman"/>
                <a:cs typeface="Times New Roman"/>
              </a:rPr>
              <a:t>Students:</a:t>
            </a:r>
          </a:p>
          <a:p>
            <a:pPr>
              <a:lnSpc>
                <a:spcPct val="115000"/>
              </a:lnSpc>
            </a:pPr>
            <a:r>
              <a:rPr lang="en-US" sz="800" b="0" i="0">
                <a:latin typeface="Times New Roman"/>
                <a:cs typeface="Times New Roman"/>
              </a:rPr>
              <a:t>Max Shuford</a:t>
            </a:r>
          </a:p>
          <a:p>
            <a:pPr>
              <a:lnSpc>
                <a:spcPct val="115000"/>
              </a:lnSpc>
            </a:pPr>
            <a:r>
              <a:rPr lang="en-US" sz="800" b="0" i="0">
                <a:latin typeface="Times New Roman"/>
                <a:cs typeface="Times New Roman"/>
              </a:rPr>
              <a:t>Esther Law</a:t>
            </a:r>
          </a:p>
          <a:p>
            <a:pPr>
              <a:lnSpc>
                <a:spcPct val="115000"/>
              </a:lnSpc>
            </a:pPr>
            <a:r>
              <a:rPr lang="en-US" sz="800" b="0" i="0">
                <a:latin typeface="Times New Roman"/>
                <a:cs typeface="Times New Roman"/>
              </a:rPr>
              <a:t>Harrison Ingram-Bate</a:t>
            </a:r>
          </a:p>
          <a:p>
            <a:pPr>
              <a:lnSpc>
                <a:spcPct val="115000"/>
              </a:lnSpc>
            </a:pPr>
            <a:r>
              <a:rPr lang="en-US" sz="800" b="0" i="0">
                <a:latin typeface="Times New Roman"/>
                <a:cs typeface="Times New Roman"/>
              </a:rPr>
              <a:t>Alan Ruelas-Cordova</a:t>
            </a:r>
            <a:endParaRPr lang="en-US" sz="800" b="0" i="0"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800" b="0" i="0">
                <a:latin typeface="Times New Roman"/>
                <a:cs typeface="Times New Roman"/>
              </a:rPr>
              <a:t>Parker Miller</a:t>
            </a:r>
          </a:p>
          <a:p>
            <a:pPr>
              <a:lnSpc>
                <a:spcPct val="114999"/>
              </a:lnSpc>
            </a:pPr>
            <a:r>
              <a:rPr lang="en-US" sz="800" b="0" i="0">
                <a:latin typeface="Times New Roman"/>
                <a:cs typeface="Times New Roman"/>
              </a:rPr>
              <a:t>Cruz Gonzalez</a:t>
            </a:r>
            <a:endParaRPr lang="en-US" sz="800" b="0" i="0">
              <a:cs typeface="Times New Roman"/>
            </a:endParaRPr>
          </a:p>
        </p:txBody>
      </p:sp>
      <p:sp>
        <p:nvSpPr>
          <p:cNvPr id="173090" name="Rectangle 34"/>
          <p:cNvSpPr>
            <a:spLocks noChangeArrowheads="1"/>
          </p:cNvSpPr>
          <p:nvPr/>
        </p:nvSpPr>
        <p:spPr bwMode="auto">
          <a:xfrm>
            <a:off x="466725" y="748554"/>
            <a:ext cx="6600031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3481" name="Rectangle 425"/>
          <p:cNvSpPr>
            <a:spLocks noChangeArrowheads="1"/>
          </p:cNvSpPr>
          <p:nvPr/>
        </p:nvSpPr>
        <p:spPr bwMode="auto">
          <a:xfrm>
            <a:off x="1689893" y="1451187"/>
            <a:ext cx="3440697" cy="2189921"/>
          </a:xfrm>
          <a:prstGeom prst="rect">
            <a:avLst/>
          </a:prstGeom>
          <a:solidFill>
            <a:srgbClr val="CA1B42"/>
          </a:solidFill>
          <a:ln w="12700">
            <a:solidFill>
              <a:srgbClr val="511EAE"/>
            </a:solidFill>
            <a:miter lim="800000"/>
            <a:headEnd/>
            <a:tailEnd/>
          </a:ln>
          <a:effectLst/>
        </p:spPr>
        <p:txBody>
          <a:bodyPr wrap="none" lIns="91440" tIns="45720" rIns="91440" bIns="45720" anchor="ctr"/>
          <a:lstStyle/>
          <a:p>
            <a:endParaRPr lang="en-US"/>
          </a:p>
        </p:txBody>
      </p:sp>
      <p:sp>
        <p:nvSpPr>
          <p:cNvPr id="173478" name="Rectangle 422"/>
          <p:cNvSpPr>
            <a:spLocks noChangeArrowheads="1"/>
          </p:cNvSpPr>
          <p:nvPr/>
        </p:nvSpPr>
        <p:spPr bwMode="auto">
          <a:xfrm>
            <a:off x="5257800" y="3657600"/>
            <a:ext cx="3576638" cy="3124200"/>
          </a:xfrm>
          <a:prstGeom prst="rect">
            <a:avLst/>
          </a:prstGeom>
          <a:solidFill>
            <a:srgbClr val="CA1B4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3071" name="Rectangle 15"/>
          <p:cNvSpPr>
            <a:spLocks noChangeArrowheads="1"/>
          </p:cNvSpPr>
          <p:nvPr/>
        </p:nvSpPr>
        <p:spPr bwMode="auto">
          <a:xfrm>
            <a:off x="5257800" y="1828800"/>
            <a:ext cx="3576638" cy="1676400"/>
          </a:xfrm>
          <a:prstGeom prst="rect">
            <a:avLst/>
          </a:prstGeom>
          <a:solidFill>
            <a:srgbClr val="CA1B4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3066" name="Text Box 10"/>
          <p:cNvSpPr txBox="1">
            <a:spLocks noChangeArrowheads="1"/>
          </p:cNvSpPr>
          <p:nvPr/>
        </p:nvSpPr>
        <p:spPr bwMode="auto">
          <a:xfrm>
            <a:off x="1912939" y="-19221"/>
            <a:ext cx="530701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800" i="0" err="1">
                <a:latin typeface="Times New Roman"/>
                <a:cs typeface="Times New Roman"/>
              </a:rPr>
              <a:t>Moogle</a:t>
            </a:r>
            <a:r>
              <a:rPr lang="en-US" sz="1800" i="0">
                <a:latin typeface="Times New Roman"/>
                <a:cs typeface="Times New Roman"/>
              </a:rPr>
              <a:t> Gaps</a:t>
            </a:r>
            <a:endParaRPr lang="en-US" sz="1800" i="0">
              <a:cs typeface="Times New Roman"/>
            </a:endParaRPr>
          </a:p>
          <a:p>
            <a:pPr algn="ctr"/>
            <a:r>
              <a:rPr lang="en-US" sz="1200" i="0">
                <a:latin typeface="Times New Roman"/>
                <a:cs typeface="Times New Roman"/>
              </a:rPr>
              <a:t>Date: 01/16/2026</a:t>
            </a:r>
          </a:p>
        </p:txBody>
      </p:sp>
      <p:sp>
        <p:nvSpPr>
          <p:cNvPr id="173072" name="Rectangle 16"/>
          <p:cNvSpPr>
            <a:spLocks noChangeArrowheads="1"/>
          </p:cNvSpPr>
          <p:nvPr/>
        </p:nvSpPr>
        <p:spPr bwMode="auto">
          <a:xfrm>
            <a:off x="5257800" y="1828800"/>
            <a:ext cx="2366963" cy="1825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/>
              <a:t>Key Risks and Issues:</a:t>
            </a:r>
          </a:p>
        </p:txBody>
      </p:sp>
      <p:sp>
        <p:nvSpPr>
          <p:cNvPr id="173089" name="Rectangle 33"/>
          <p:cNvSpPr>
            <a:spLocks noChangeArrowheads="1"/>
          </p:cNvSpPr>
          <p:nvPr/>
        </p:nvSpPr>
        <p:spPr bwMode="auto">
          <a:xfrm>
            <a:off x="434975" y="1828800"/>
            <a:ext cx="874713" cy="152400"/>
          </a:xfrm>
          <a:prstGeom prst="rect">
            <a:avLst/>
          </a:prstGeom>
          <a:solidFill>
            <a:srgbClr val="CA1B4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1429" tIns="45714" rIns="91429" bIns="45714" anchor="ctr"/>
          <a:lstStyle/>
          <a:p>
            <a:pPr algn="ctr"/>
            <a:r>
              <a:rPr lang="en-US" sz="900" i="0">
                <a:solidFill>
                  <a:schemeClr val="bg1"/>
                </a:solidFill>
              </a:rPr>
              <a:t>Key Contacts</a:t>
            </a:r>
            <a:endParaRPr lang="en-US" i="0">
              <a:solidFill>
                <a:schemeClr val="bg1"/>
              </a:solidFill>
            </a:endParaRPr>
          </a:p>
        </p:txBody>
      </p:sp>
      <p:sp>
        <p:nvSpPr>
          <p:cNvPr id="173091" name="Rectangle 35"/>
          <p:cNvSpPr>
            <a:spLocks noChangeArrowheads="1"/>
          </p:cNvSpPr>
          <p:nvPr/>
        </p:nvSpPr>
        <p:spPr bwMode="auto">
          <a:xfrm>
            <a:off x="452438" y="490410"/>
            <a:ext cx="5876925" cy="93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114300" indent="-114300"/>
            <a:r>
              <a:rPr lang="en-US" sz="1200">
                <a:latin typeface="Times New Roman"/>
                <a:cs typeface="Times New Roman"/>
              </a:rPr>
              <a:t>Project Objectives:</a:t>
            </a:r>
          </a:p>
          <a:p>
            <a:pPr marL="114300" indent="-114300"/>
            <a:r>
              <a:rPr lang="en-US" sz="500" b="0" i="0">
                <a:latin typeface="Times New Roman"/>
                <a:cs typeface="Times New Roman"/>
              </a:rPr>
              <a:t>	</a:t>
            </a:r>
            <a:endParaRPr lang="en-US" b="0" i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114300" indent="-114300">
              <a:spcBef>
                <a:spcPts val="0"/>
              </a:spcBef>
              <a:buFont typeface="Wingdings" pitchFamily="2" charset="2"/>
              <a:buChar char="§"/>
            </a:pPr>
            <a:r>
              <a:rPr lang="en-US" sz="800" b="0" i="0">
                <a:solidFill>
                  <a:srgbClr val="000000"/>
                </a:solidFill>
                <a:latin typeface="Times New Roman"/>
                <a:cs typeface="Times New Roman"/>
              </a:rPr>
              <a:t>Develop an application that displays a map centered in the user's current location. </a:t>
            </a:r>
            <a:endParaRPr lang="en-US" sz="800" b="0" i="0">
              <a:solidFill>
                <a:srgbClr val="000000"/>
              </a:solidFill>
              <a:cs typeface="Times New Roman"/>
            </a:endParaRPr>
          </a:p>
          <a:p>
            <a:pPr marL="114300" indent="-1143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800" b="0" i="0">
                <a:solidFill>
                  <a:srgbClr val="000000"/>
                </a:solidFill>
                <a:latin typeface="Times New Roman"/>
                <a:cs typeface="Times New Roman"/>
              </a:rPr>
              <a:t>Enable users to enter two U.S. cities and receive driving directions. </a:t>
            </a:r>
            <a:endParaRPr lang="en-US" sz="800" b="0" i="0">
              <a:solidFill>
                <a:srgbClr val="000000"/>
              </a:solidFill>
              <a:cs typeface="Times New Roman"/>
            </a:endParaRPr>
          </a:p>
          <a:p>
            <a:pPr marL="114300" indent="-1143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800" b="0" i="0">
                <a:solidFill>
                  <a:srgbClr val="000000"/>
                </a:solidFill>
                <a:latin typeface="Times New Roman"/>
                <a:cs typeface="Times New Roman"/>
              </a:rPr>
              <a:t>Provide secure user authentication, allowing users to create accounts and log in safely.  </a:t>
            </a:r>
            <a:endParaRPr lang="en-US" sz="800" b="0" i="0">
              <a:solidFill>
                <a:srgbClr val="000000"/>
              </a:solidFill>
              <a:cs typeface="Times New Roman"/>
            </a:endParaRPr>
          </a:p>
          <a:p>
            <a:pPr marL="114300" indent="-1143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800" b="0" i="0">
                <a:solidFill>
                  <a:srgbClr val="000000"/>
                </a:solidFill>
                <a:latin typeface="Times New Roman"/>
                <a:cs typeface="Times New Roman"/>
              </a:rPr>
              <a:t>Allow authenticated users to save up to five favorite routes. </a:t>
            </a:r>
            <a:endParaRPr lang="en-US" sz="800" b="0" i="0">
              <a:solidFill>
                <a:srgbClr val="000000"/>
              </a:solidFill>
              <a:cs typeface="Times New Roman"/>
            </a:endParaRPr>
          </a:p>
        </p:txBody>
      </p:sp>
      <p:sp>
        <p:nvSpPr>
          <p:cNvPr id="173122" name="Line 66"/>
          <p:cNvSpPr>
            <a:spLocks noChangeShapeType="1"/>
          </p:cNvSpPr>
          <p:nvPr/>
        </p:nvSpPr>
        <p:spPr bwMode="auto">
          <a:xfrm>
            <a:off x="1295400" y="2057400"/>
            <a:ext cx="1588" cy="2433638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3147" name="Line 91"/>
          <p:cNvSpPr>
            <a:spLocks noChangeShapeType="1"/>
          </p:cNvSpPr>
          <p:nvPr/>
        </p:nvSpPr>
        <p:spPr bwMode="auto">
          <a:xfrm>
            <a:off x="466725" y="526590"/>
            <a:ext cx="8382000" cy="1588"/>
          </a:xfrm>
          <a:prstGeom prst="line">
            <a:avLst/>
          </a:prstGeom>
          <a:noFill/>
          <a:ln w="76200">
            <a:solidFill>
              <a:srgbClr val="CA1B4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3184" name="Rectangle 128"/>
          <p:cNvSpPr>
            <a:spLocks noChangeArrowheads="1"/>
          </p:cNvSpPr>
          <p:nvPr/>
        </p:nvSpPr>
        <p:spPr bwMode="auto">
          <a:xfrm>
            <a:off x="7185819" y="1095375"/>
            <a:ext cx="430213" cy="152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1440" tIns="45720" rIns="91440" bIns="45720" anchor="ctr"/>
          <a:lstStyle/>
          <a:p>
            <a:pPr algn="ctr"/>
            <a:r>
              <a:rPr lang="en-US" b="0" i="0">
                <a:latin typeface="Arial"/>
                <a:cs typeface="Arial"/>
              </a:rPr>
              <a:t>M</a:t>
            </a:r>
          </a:p>
        </p:txBody>
      </p:sp>
      <p:sp>
        <p:nvSpPr>
          <p:cNvPr id="173186" name="Rectangle 130"/>
          <p:cNvSpPr>
            <a:spLocks noChangeArrowheads="1"/>
          </p:cNvSpPr>
          <p:nvPr/>
        </p:nvSpPr>
        <p:spPr bwMode="auto">
          <a:xfrm>
            <a:off x="7195345" y="1533525"/>
            <a:ext cx="430212" cy="1524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1440" tIns="45720" rIns="91440" bIns="45720" anchor="ctr"/>
          <a:lstStyle/>
          <a:p>
            <a:pPr algn="ctr"/>
            <a:endParaRPr lang="en-US" b="0" i="0">
              <a:latin typeface="Arial" pitchFamily="34" charset="0"/>
              <a:cs typeface="Arial"/>
            </a:endParaRPr>
          </a:p>
        </p:txBody>
      </p:sp>
      <p:sp>
        <p:nvSpPr>
          <p:cNvPr id="173187" name="Rectangle 131"/>
          <p:cNvSpPr>
            <a:spLocks noChangeArrowheads="1"/>
          </p:cNvSpPr>
          <p:nvPr/>
        </p:nvSpPr>
        <p:spPr bwMode="auto">
          <a:xfrm>
            <a:off x="7262019" y="942975"/>
            <a:ext cx="22860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800" b="0" i="0">
                <a:solidFill>
                  <a:srgbClr val="000000"/>
                </a:solidFill>
              </a:rPr>
              <a:t>Risk</a:t>
            </a:r>
          </a:p>
        </p:txBody>
      </p:sp>
      <p:sp>
        <p:nvSpPr>
          <p:cNvPr id="173190" name="Rectangle 134"/>
          <p:cNvSpPr>
            <a:spLocks noChangeArrowheads="1"/>
          </p:cNvSpPr>
          <p:nvPr/>
        </p:nvSpPr>
        <p:spPr bwMode="auto">
          <a:xfrm>
            <a:off x="7244557" y="1381125"/>
            <a:ext cx="371475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800" b="0" i="0">
                <a:solidFill>
                  <a:srgbClr val="000000"/>
                </a:solidFill>
              </a:rPr>
              <a:t>Schedule</a:t>
            </a:r>
            <a:endParaRPr lang="en-US" sz="1200" b="0">
              <a:solidFill>
                <a:schemeClr val="accent2"/>
              </a:solidFill>
              <a:latin typeface="Book Antiqua" pitchFamily="18" charset="0"/>
            </a:endParaRPr>
          </a:p>
        </p:txBody>
      </p:sp>
      <p:sp>
        <p:nvSpPr>
          <p:cNvPr id="173193" name="Rectangle 137"/>
          <p:cNvSpPr>
            <a:spLocks noChangeArrowheads="1"/>
          </p:cNvSpPr>
          <p:nvPr/>
        </p:nvSpPr>
        <p:spPr bwMode="auto">
          <a:xfrm>
            <a:off x="8202613" y="1181100"/>
            <a:ext cx="646112" cy="33020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1440" tIns="45720" rIns="91440" bIns="45720" anchor="ctr"/>
          <a:lstStyle/>
          <a:p>
            <a:pPr algn="ctr"/>
            <a:endParaRPr lang="en-US" b="0" i="0">
              <a:latin typeface="Arial" pitchFamily="34" charset="0"/>
              <a:cs typeface="Arial"/>
            </a:endParaRPr>
          </a:p>
        </p:txBody>
      </p:sp>
      <p:sp>
        <p:nvSpPr>
          <p:cNvPr id="173194" name="Rectangle 138"/>
          <p:cNvSpPr>
            <a:spLocks noChangeArrowheads="1"/>
          </p:cNvSpPr>
          <p:nvPr/>
        </p:nvSpPr>
        <p:spPr bwMode="auto">
          <a:xfrm>
            <a:off x="7705725" y="1181100"/>
            <a:ext cx="4333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100" i="0">
                <a:solidFill>
                  <a:srgbClr val="000000"/>
                </a:solidFill>
              </a:rPr>
              <a:t>Project</a:t>
            </a:r>
          </a:p>
          <a:p>
            <a:pPr algn="ctr"/>
            <a:r>
              <a:rPr lang="en-US" sz="1100" i="0">
                <a:solidFill>
                  <a:srgbClr val="000000"/>
                </a:solidFill>
              </a:rPr>
              <a:t>Status</a:t>
            </a:r>
            <a:endParaRPr lang="en-US" sz="1100" b="0">
              <a:solidFill>
                <a:schemeClr val="accent2"/>
              </a:solidFill>
              <a:latin typeface="Book Antiqua" pitchFamily="18" charset="0"/>
            </a:endParaRPr>
          </a:p>
        </p:txBody>
      </p:sp>
      <p:sp>
        <p:nvSpPr>
          <p:cNvPr id="173475" name="Rectangle 419"/>
          <p:cNvSpPr>
            <a:spLocks noChangeArrowheads="1"/>
          </p:cNvSpPr>
          <p:nvPr/>
        </p:nvSpPr>
        <p:spPr bwMode="auto">
          <a:xfrm>
            <a:off x="1690687" y="1463539"/>
            <a:ext cx="2366963" cy="1825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/>
              <a:t>Key Milestones:</a:t>
            </a:r>
          </a:p>
        </p:txBody>
      </p:sp>
      <p:sp>
        <p:nvSpPr>
          <p:cNvPr id="173477" name="Rectangle 421"/>
          <p:cNvSpPr>
            <a:spLocks noChangeArrowheads="1"/>
          </p:cNvSpPr>
          <p:nvPr/>
        </p:nvSpPr>
        <p:spPr bwMode="auto">
          <a:xfrm>
            <a:off x="5331619" y="3962400"/>
            <a:ext cx="3429000" cy="2759153"/>
          </a:xfrm>
          <a:prstGeom prst="rect">
            <a:avLst/>
          </a:prstGeom>
          <a:solidFill>
            <a:schemeClr val="bg1"/>
          </a:solidFill>
          <a:ln w="38100" cmpd="dbl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8" tIns="44450" rIns="90488" bIns="44450" anchor="t">
            <a:spAutoFit/>
          </a:bodyPr>
          <a:lstStyle/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r>
              <a:rPr lang="en-US" sz="800" b="0" i="0">
                <a:latin typeface="Times New Roman"/>
                <a:cs typeface="Times New Roman"/>
              </a:rPr>
              <a:t>Update Gantt chart to be in compliance with requirements.</a:t>
            </a:r>
            <a:endParaRPr lang="en-US" sz="800" b="0" i="0">
              <a:cs typeface="Times New Roman"/>
            </a:endParaRPr>
          </a:p>
          <a:p>
            <a:pPr marL="114300" indent="-114300"/>
            <a:endParaRPr lang="en-US" sz="800" b="0" i="0"/>
          </a:p>
          <a:p>
            <a:pPr marL="114300" indent="-114300">
              <a:buFontTx/>
              <a:buChar char="•"/>
            </a:pPr>
            <a:r>
              <a:rPr lang="en-US" sz="800" b="0" i="0">
                <a:latin typeface="Times New Roman"/>
                <a:cs typeface="Times New Roman"/>
              </a:rPr>
              <a:t>Complete the Updated Project Plan based on instructor feedback.</a:t>
            </a:r>
          </a:p>
          <a:p>
            <a:pPr marL="114300" indent="-114300">
              <a:buFontTx/>
              <a:buChar char="•"/>
            </a:pPr>
            <a:endParaRPr lang="en-US" sz="800" b="0" i="0">
              <a:latin typeface="Times New Roman"/>
              <a:cs typeface="Times New Roman"/>
            </a:endParaRPr>
          </a:p>
          <a:p>
            <a:pPr marL="114300" indent="-114300">
              <a:buFontTx/>
              <a:buChar char="•"/>
            </a:pPr>
            <a:r>
              <a:rPr lang="en-US" sz="800" b="0" i="0">
                <a:latin typeface="Times New Roman"/>
                <a:cs typeface="Times New Roman"/>
              </a:rPr>
              <a:t>Complete the initial Software Requirements Specification (SRS).</a:t>
            </a:r>
            <a:endParaRPr lang="en-US" sz="800" b="0" i="0">
              <a:cs typeface="Times New Roman" pitchFamily="18" charset="0"/>
            </a:endParaRPr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Char char="•"/>
            </a:pPr>
            <a:r>
              <a:rPr lang="en-US" sz="800" b="0" i="0">
                <a:latin typeface="Times New Roman"/>
                <a:cs typeface="Times New Roman"/>
              </a:rPr>
              <a:t>Status Report 2</a:t>
            </a:r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buFontTx/>
              <a:buChar char="•"/>
            </a:pPr>
            <a:endParaRPr lang="en-US" sz="800" b="0" i="0"/>
          </a:p>
          <a:p>
            <a:pPr marL="114300" indent="-114300">
              <a:lnSpc>
                <a:spcPct val="65000"/>
              </a:lnSpc>
            </a:pPr>
            <a:endParaRPr lang="en-US" sz="800" b="0" i="0">
              <a:solidFill>
                <a:srgbClr val="000000"/>
              </a:solidFill>
            </a:endParaRPr>
          </a:p>
        </p:txBody>
      </p:sp>
      <p:sp>
        <p:nvSpPr>
          <p:cNvPr id="173474" name="Rectangle 418"/>
          <p:cNvSpPr>
            <a:spLocks noChangeArrowheads="1"/>
          </p:cNvSpPr>
          <p:nvPr/>
        </p:nvSpPr>
        <p:spPr bwMode="auto">
          <a:xfrm>
            <a:off x="5257799" y="3657600"/>
            <a:ext cx="2822575" cy="1825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/>
              <a:t>Major Tasks Planned for Next Two Weeks: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34238" y="-57547"/>
            <a:ext cx="1600200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800">
                <a:ln w="1905"/>
                <a:solidFill>
                  <a:srgbClr val="CA1B42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CS 480</a:t>
            </a:r>
          </a:p>
          <a:p>
            <a:pPr algn="ctr"/>
            <a:r>
              <a:rPr lang="en-US" sz="1600">
                <a:ln w="1905"/>
                <a:solidFill>
                  <a:srgbClr val="CA1B42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/>
                <a:cs typeface="Times New Roman"/>
              </a:rPr>
              <a:t>Winter 2026</a:t>
            </a:r>
            <a:endParaRPr lang="en-US" sz="1600">
              <a:ln w="1905"/>
              <a:solidFill>
                <a:srgbClr val="CA1B42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cs typeface="Times New Roman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455664"/>
              </p:ext>
            </p:extLst>
          </p:nvPr>
        </p:nvGraphicFramePr>
        <p:xfrm>
          <a:off x="504264" y="3854823"/>
          <a:ext cx="4524703" cy="2810189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16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63">
                  <a:extLst>
                    <a:ext uri="{9D8B030D-6E8A-4147-A177-3AD203B41FA5}">
                      <a16:colId xmlns:a16="http://schemas.microsoft.com/office/drawing/2014/main" val="2068015191"/>
                    </a:ext>
                  </a:extLst>
                </a:gridCol>
                <a:gridCol w="2859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768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Student(s)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Accomplishment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358"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1/9/26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All Students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Completed purpose, scope of the project, references, and some of the glossary in the project plan..</a:t>
                      </a:r>
                      <a:endParaRPr lang="en-US" sz="7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358"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1/13/26</a:t>
                      </a:r>
                      <a:endParaRPr lang="en-US" sz="7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Esther, Harrison, Alan, and Cruz</a:t>
                      </a:r>
                      <a:endParaRPr lang="en-US" sz="7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Completed the milestones, assumptions, and constraints for the project plan.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355"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1/14/26</a:t>
                      </a:r>
                      <a:endParaRPr lang="en-US" sz="7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lang="en-US" sz="7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All Students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Completed risk table for the project plan. Started on phase descriptions, and tasks/effort table.</a:t>
                      </a:r>
                      <a:endParaRPr lang="en-US" sz="7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35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1/15/26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Max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Completed the Gantt chart, embedded it into the Project Plan, and finalized the task/effort table and resources table.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355"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1/15/26</a:t>
                      </a:r>
                      <a:endParaRPr lang="en-US" sz="7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lang="en-US" sz="7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Esther and Harrison</a:t>
                      </a:r>
                      <a:endParaRPr lang="en-US" sz="7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Finalized the phase descriptions.</a:t>
                      </a:r>
                      <a:endParaRPr lang="en-US" sz="7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305"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1/15/26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lang="en-US" sz="7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All Students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Reviewed/Finalized and Submitted Project Plan.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10D86B-3234-E058-B248-DBEEA638C8FE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044801510"/>
              </p:ext>
            </p:extLst>
          </p:nvPr>
        </p:nvGraphicFramePr>
        <p:xfrm>
          <a:off x="1815890" y="1667740"/>
          <a:ext cx="3200400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324">
                  <a:extLst>
                    <a:ext uri="{9D8B030D-6E8A-4147-A177-3AD203B41FA5}">
                      <a16:colId xmlns:a16="http://schemas.microsoft.com/office/drawing/2014/main" val="376091737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3645581980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1258842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627686538"/>
                    </a:ext>
                  </a:extLst>
                </a:gridCol>
              </a:tblGrid>
              <a:tr h="183114">
                <a:tc>
                  <a:txBody>
                    <a:bodyPr/>
                    <a:lstStyle/>
                    <a:p>
                      <a:r>
                        <a:rPr lang="en-US" sz="700" b="1">
                          <a:latin typeface="Times New Roman"/>
                          <a:cs typeface="Times New Roman"/>
                        </a:rPr>
                        <a:t>Milestone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latin typeface="Times New Roman"/>
                          <a:cs typeface="Times New Roman"/>
                        </a:rPr>
                        <a:t>%Complete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latin typeface="Times New Roman"/>
                          <a:cs typeface="Times New Roman"/>
                        </a:rPr>
                        <a:t>Planned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latin typeface="Times New Roman"/>
                          <a:cs typeface="Times New Roman"/>
                        </a:rPr>
                        <a:t>Completed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958111"/>
                  </a:ext>
                </a:extLst>
              </a:tr>
              <a:tr h="183114"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Project Plan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100%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1/16/2026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1/15/2026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499934"/>
                  </a:ext>
                </a:extLst>
              </a:tr>
              <a:tr h="183114"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Updated Project Plan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0%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1/23/2026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844104"/>
                  </a:ext>
                </a:extLst>
              </a:tr>
              <a:tr h="1831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SRS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2/6/2026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-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88196"/>
                  </a:ext>
                </a:extLst>
              </a:tr>
              <a:tr h="18311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Updated SRS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2/13/2026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-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044012"/>
                  </a:ext>
                </a:extLst>
              </a:tr>
              <a:tr h="183114"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Design Document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0%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2/27/2026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086873"/>
                  </a:ext>
                </a:extLst>
              </a:tr>
              <a:tr h="183114"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Test Plan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0%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3/6/2026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932541"/>
                  </a:ext>
                </a:extLst>
              </a:tr>
              <a:tr h="1831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700">
                          <a:latin typeface="Times New Roman"/>
                          <a:cs typeface="Times New Roman"/>
                        </a:rPr>
                        <a:t>Working System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3/13/2026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613045"/>
                  </a:ext>
                </a:extLst>
              </a:tr>
              <a:tr h="183114"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Test Report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3/13/2026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221683"/>
                  </a:ext>
                </a:extLst>
              </a:tr>
              <a:tr h="183114"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Presentation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3/16/2026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/>
                          <a:cs typeface="Times New Roman"/>
                        </a:rPr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1096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2FD202-76E9-F9B2-BE9B-8FF6AA3F0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597497"/>
              </p:ext>
            </p:extLst>
          </p:nvPr>
        </p:nvGraphicFramePr>
        <p:xfrm>
          <a:off x="5322951" y="2083165"/>
          <a:ext cx="3427930" cy="13574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13965">
                  <a:extLst>
                    <a:ext uri="{9D8B030D-6E8A-4147-A177-3AD203B41FA5}">
                      <a16:colId xmlns:a16="http://schemas.microsoft.com/office/drawing/2014/main" val="4131621460"/>
                    </a:ext>
                  </a:extLst>
                </a:gridCol>
                <a:gridCol w="1713965">
                  <a:extLst>
                    <a:ext uri="{9D8B030D-6E8A-4147-A177-3AD203B41FA5}">
                      <a16:colId xmlns:a16="http://schemas.microsoft.com/office/drawing/2014/main" val="162690463"/>
                    </a:ext>
                  </a:extLst>
                </a:gridCol>
              </a:tblGrid>
              <a:tr h="678702">
                <a:tc>
                  <a:txBody>
                    <a:bodyPr/>
                    <a:lstStyle/>
                    <a:p>
                      <a:pPr rtl="0" fontAlgn="base">
                        <a:lnSpc>
                          <a:spcPts val="825"/>
                        </a:lnSpc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Risk:  </a:t>
                      </a:r>
                      <a:endParaRPr lang="en-US" sz="800" b="1">
                        <a:solidFill>
                          <a:srgbClr val="FFFFF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398" marR="63398" marT="31699" marB="31699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825"/>
                        </a:lnSpc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Risk Summary:</a:t>
                      </a:r>
                      <a:endParaRPr lang="en-US" sz="800" b="1">
                        <a:solidFill>
                          <a:srgbClr val="FFFFFF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398" marR="63398" marT="31699" marB="31699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400608"/>
                  </a:ext>
                </a:extLst>
              </a:tr>
              <a:tr h="678702">
                <a:tc>
                  <a:txBody>
                    <a:bodyPr/>
                    <a:lstStyle/>
                    <a:p>
                      <a:pPr rtl="0" fontAlgn="base">
                        <a:lnSpc>
                          <a:spcPts val="825"/>
                        </a:lnSpc>
                        <a:buNone/>
                      </a:pPr>
                      <a:r>
                        <a:rPr lang="en-US" sz="800" b="1" u="none">
                          <a:effectLst/>
                          <a:latin typeface="Times New Roman"/>
                          <a:cs typeface="Times New Roman"/>
                        </a:rPr>
                        <a:t>Issue: </a:t>
                      </a:r>
                      <a:br>
                        <a:rPr lang="en-US" sz="800" b="0" u="none">
                          <a:effectLst/>
                          <a:latin typeface="Times New Roman"/>
                          <a:cs typeface="Times New Roman"/>
                        </a:rPr>
                      </a:br>
                      <a:br>
                        <a:rPr lang="en-US" sz="800" b="0" u="none">
                          <a:effectLst/>
                          <a:latin typeface="Times New Roman"/>
                          <a:cs typeface="Times New Roman"/>
                        </a:rPr>
                      </a:br>
                      <a:r>
                        <a:rPr lang="en-US" sz="800" b="0" u="none">
                          <a:effectLst/>
                          <a:latin typeface="Times New Roman"/>
                          <a:cs typeface="Times New Roman"/>
                        </a:rPr>
                        <a:t>Meeting in person at a designated time.</a:t>
                      </a:r>
                    </a:p>
                  </a:txBody>
                  <a:tcPr marL="63398" marR="63398" marT="31699" marB="31699">
                    <a:lnL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82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Times New Roman"/>
                          <a:cs typeface="Times New Roman"/>
                        </a:rPr>
                        <a:t>Issue Summary &amp; Resolution:</a:t>
                      </a:r>
                      <a:br>
                        <a:rPr lang="en-US" sz="800" b="0">
                          <a:effectLst/>
                          <a:latin typeface="Times New Roman"/>
                          <a:cs typeface="Times New Roman"/>
                        </a:rPr>
                      </a:br>
                      <a:br>
                        <a:rPr lang="en-US" sz="800" b="0">
                          <a:effectLst/>
                          <a:latin typeface="Times New Roman"/>
                          <a:cs typeface="Times New Roman"/>
                        </a:rPr>
                      </a:br>
                      <a:r>
                        <a:rPr lang="en-US" sz="800" b="0">
                          <a:effectLst/>
                          <a:latin typeface="Times New Roman"/>
                          <a:cs typeface="Times New Roman"/>
                        </a:rPr>
                        <a:t>Virtual meetings, and distance communication.</a:t>
                      </a:r>
                    </a:p>
                  </a:txBody>
                  <a:tcPr marL="63398" marR="63398" marT="31699" marB="31699">
                    <a:lnL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7357"/>
                  </a:ext>
                </a:extLst>
              </a:tr>
            </a:tbl>
          </a:graphicData>
        </a:graphic>
      </p:graphicFrame>
      <p:sp>
        <p:nvSpPr>
          <p:cNvPr id="173476" name="Rectangle 420"/>
          <p:cNvSpPr>
            <a:spLocks noChangeArrowheads="1"/>
          </p:cNvSpPr>
          <p:nvPr/>
        </p:nvSpPr>
        <p:spPr bwMode="auto">
          <a:xfrm>
            <a:off x="441323" y="3635098"/>
            <a:ext cx="1230642" cy="2032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800">
                <a:latin typeface="Times New Roman"/>
                <a:cs typeface="Times New Roman"/>
              </a:rPr>
              <a:t>Key Accomplishments: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Wachovia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CSI 490 Status Template</dc:title>
  <dc:creator>Nathan White</dc:creator>
  <cp:revision>143</cp:revision>
  <dcterms:created xsi:type="dcterms:W3CDTF">2000-10-06T18:27:12Z</dcterms:created>
  <dcterms:modified xsi:type="dcterms:W3CDTF">2026-01-16T22:42:08Z</dcterms:modified>
</cp:coreProperties>
</file>